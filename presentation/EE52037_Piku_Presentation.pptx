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985" autoAdjust="0"/>
  </p:normalViewPr>
  <p:slideViewPr>
    <p:cSldViewPr snapToGrid="0" snapToObjects="1">
      <p:cViewPr varScale="1">
        <p:scale>
          <a:sx n="68" d="100"/>
          <a:sy n="68" d="100"/>
        </p:scale>
        <p:origin x="21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98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[Title – 0:00 – ~12s]</a:t>
            </a:r>
          </a:p>
          <a:p>
            <a:endParaRPr/>
          </a:p>
          <a:p>
            <a:r>
              <a:t>Hi, I'm Ronald Piku. Thank you for joining me as I present my dissertation: a physically motivated noise model for robust EIT tactile classification under simulated domain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[Introduction – 0:12 – ~23s]</a:t>
            </a:r>
          </a:p>
          <a:p>
            <a:endParaRPr dirty="0"/>
          </a:p>
          <a:p>
            <a:r>
              <a:rPr dirty="0"/>
              <a:t>Here's how this presentation is structured. </a:t>
            </a:r>
            <a:endParaRPr lang="en-GB" dirty="0"/>
          </a:p>
          <a:p>
            <a:endParaRPr lang="en-GB" dirty="0"/>
          </a:p>
          <a:p>
            <a:r>
              <a:rPr dirty="0"/>
              <a:t>First, I define the problem this</a:t>
            </a:r>
            <a:r>
              <a:rPr lang="en-GB" dirty="0"/>
              <a:t> </a:t>
            </a:r>
            <a:r>
              <a:rPr dirty="0"/>
              <a:t>creates and what I mean by the simulation-to-reality gap. </a:t>
            </a:r>
            <a:endParaRPr lang="en-GB" dirty="0"/>
          </a:p>
          <a:p>
            <a:endParaRPr lang="en-GB" dirty="0"/>
          </a:p>
          <a:p>
            <a:r>
              <a:rPr dirty="0"/>
              <a:t>Then three results</a:t>
            </a:r>
            <a:r>
              <a:rPr lang="en-GB" dirty="0"/>
              <a:t> </a:t>
            </a:r>
            <a:r>
              <a:rPr dirty="0"/>
              <a:t>follow: what closes that gap, how it was evaluated, and the smallest noise</a:t>
            </a:r>
            <a:r>
              <a:rPr lang="en-GB" dirty="0"/>
              <a:t> </a:t>
            </a:r>
            <a:r>
              <a:rPr dirty="0"/>
              <a:t>model that still works. </a:t>
            </a:r>
            <a:endParaRPr lang="en-GB" dirty="0"/>
          </a:p>
          <a:p>
            <a:endParaRPr lang="en-GB" dirty="0"/>
          </a:p>
          <a:p>
            <a:r>
              <a:rPr dirty="0"/>
              <a:t>Finally, I review the conclusions and discuss the</a:t>
            </a:r>
            <a:r>
              <a:rPr lang="en-GB" dirty="0"/>
              <a:t> </a:t>
            </a:r>
            <a:r>
              <a:rPr dirty="0"/>
              <a:t>work's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[The problem – 0:35 – ~56s]</a:t>
            </a:r>
          </a:p>
          <a:p>
            <a:endParaRPr dirty="0"/>
          </a:p>
          <a:p>
            <a:r>
              <a:rPr dirty="0"/>
              <a:t>Around fifty-eight million people live with limb loss, and more than a third</a:t>
            </a:r>
            <a:r>
              <a:rPr lang="en-GB" dirty="0"/>
              <a:t> </a:t>
            </a:r>
            <a:r>
              <a:rPr dirty="0"/>
              <a:t>abandon a powered prosthetic arm — the most cited reason is that the device</a:t>
            </a:r>
            <a:r>
              <a:rPr lang="en-GB" dirty="0"/>
              <a:t> </a:t>
            </a:r>
            <a:r>
              <a:rPr dirty="0"/>
              <a:t>itself has no sense of touch, so it can't tell when or how it is being</a:t>
            </a:r>
            <a:r>
              <a:rPr lang="en-GB" dirty="0"/>
              <a:t> </a:t>
            </a:r>
            <a:r>
              <a:rPr dirty="0"/>
              <a:t>handled.</a:t>
            </a:r>
          </a:p>
          <a:p>
            <a:endParaRPr dirty="0"/>
          </a:p>
          <a:p>
            <a:r>
              <a:rPr dirty="0"/>
              <a:t>Electrical Impedance Tomography, or EIT, gives it that awareness. As Figure 1</a:t>
            </a:r>
            <a:r>
              <a:rPr lang="en-GB" dirty="0"/>
              <a:t> </a:t>
            </a:r>
            <a:r>
              <a:rPr dirty="0"/>
              <a:t>shows, sixteen electrodes sit around a soft sensing disc covering the arm,</a:t>
            </a:r>
            <a:r>
              <a:rPr lang="en-GB" dirty="0"/>
              <a:t> </a:t>
            </a:r>
            <a:r>
              <a:rPr dirty="0"/>
              <a:t>modelled on an ionic hydrogel skin for its</a:t>
            </a:r>
            <a:r>
              <a:rPr lang="en-GB" dirty="0"/>
              <a:t> </a:t>
            </a:r>
            <a:r>
              <a:rPr dirty="0"/>
              <a:t>sensing</a:t>
            </a:r>
            <a:r>
              <a:rPr lang="en-GB" dirty="0"/>
              <a:t> fidelity and direct comparability to leading EIT research. By </a:t>
            </a:r>
            <a:r>
              <a:rPr lang="en-GB" dirty="0" err="1"/>
              <a:t>i</a:t>
            </a:r>
            <a:r>
              <a:rPr dirty="0"/>
              <a:t>inject</a:t>
            </a:r>
            <a:r>
              <a:rPr lang="en-GB" dirty="0" err="1"/>
              <a:t>ing</a:t>
            </a:r>
            <a:r>
              <a:rPr dirty="0"/>
              <a:t> a small current between one pair</a:t>
            </a:r>
            <a:r>
              <a:rPr lang="en-GB" dirty="0"/>
              <a:t> and</a:t>
            </a:r>
            <a:r>
              <a:rPr dirty="0"/>
              <a:t> measure</a:t>
            </a:r>
            <a:r>
              <a:rPr lang="en-GB" dirty="0" err="1"/>
              <a:t>ing</a:t>
            </a:r>
            <a:r>
              <a:rPr dirty="0"/>
              <a:t> the voltage at another</a:t>
            </a:r>
            <a:r>
              <a:rPr lang="en-GB" dirty="0"/>
              <a:t>, W</a:t>
            </a:r>
            <a:r>
              <a:rPr dirty="0"/>
              <a:t>here</a:t>
            </a:r>
            <a:r>
              <a:rPr lang="en-GB" dirty="0" err="1"/>
              <a:t>ver</a:t>
            </a:r>
            <a:r>
              <a:rPr dirty="0"/>
              <a:t> somebody presses</a:t>
            </a:r>
            <a:r>
              <a:rPr lang="en-GB" dirty="0"/>
              <a:t> causes</a:t>
            </a:r>
            <a:r>
              <a:rPr dirty="0"/>
              <a:t> </a:t>
            </a:r>
            <a:r>
              <a:rPr lang="en-GB" dirty="0"/>
              <a:t>a </a:t>
            </a:r>
            <a:r>
              <a:rPr dirty="0"/>
              <a:t>voltage shift, </a:t>
            </a:r>
            <a:r>
              <a:rPr lang="en-GB" dirty="0"/>
              <a:t>creating a</a:t>
            </a:r>
            <a:r>
              <a:rPr dirty="0"/>
              <a:t> full set of</a:t>
            </a:r>
            <a:r>
              <a:rPr lang="en-GB" dirty="0"/>
              <a:t> </a:t>
            </a:r>
            <a:r>
              <a:rPr dirty="0"/>
              <a:t>measurements </a:t>
            </a:r>
            <a:r>
              <a:rPr lang="en-GB" dirty="0"/>
              <a:t>a</a:t>
            </a:r>
            <a:r>
              <a:rPr dirty="0"/>
              <a:t>s a vector </a:t>
            </a:r>
            <a:r>
              <a:rPr lang="en-GB" dirty="0"/>
              <a:t>that</a:t>
            </a:r>
            <a:r>
              <a:rPr dirty="0"/>
              <a:t> can feed straight into a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[Where the field is – 1:32 – ~47s]</a:t>
            </a:r>
          </a:p>
          <a:p>
            <a:endParaRPr dirty="0"/>
          </a:p>
          <a:p>
            <a:r>
              <a:rPr dirty="0"/>
              <a:t>Published EIT touch classifiers report </a:t>
            </a:r>
            <a:r>
              <a:rPr lang="en-GB" dirty="0"/>
              <a:t>up to </a:t>
            </a:r>
            <a:r>
              <a:rPr dirty="0"/>
              <a:t>ninety-eight</a:t>
            </a:r>
            <a:r>
              <a:rPr lang="en-GB" dirty="0"/>
              <a:t> and</a:t>
            </a:r>
            <a:r>
              <a:rPr dirty="0"/>
              <a:t> ninety-nine per cent</a:t>
            </a:r>
            <a:r>
              <a:rPr lang="en-GB" dirty="0"/>
              <a:t> </a:t>
            </a:r>
            <a:r>
              <a:rPr dirty="0"/>
              <a:t>accuracy,</a:t>
            </a:r>
            <a:r>
              <a:rPr lang="en-GB" dirty="0"/>
              <a:t> but are</a:t>
            </a:r>
            <a:r>
              <a:rPr dirty="0"/>
              <a:t> almost all trained on simulated measurements</a:t>
            </a:r>
            <a:r>
              <a:rPr lang="en-GB" dirty="0"/>
              <a:t>. This is</a:t>
            </a:r>
            <a:r>
              <a:rPr dirty="0"/>
              <a:t> because labelled real</a:t>
            </a:r>
            <a:r>
              <a:rPr lang="en-GB" dirty="0"/>
              <a:t> </a:t>
            </a:r>
            <a:r>
              <a:rPr dirty="0"/>
              <a:t>data is expensive to collect.</a:t>
            </a:r>
          </a:p>
          <a:p>
            <a:endParaRPr dirty="0"/>
          </a:p>
          <a:p>
            <a:r>
              <a:rPr lang="en-GB" dirty="0"/>
              <a:t>However,</a:t>
            </a:r>
            <a:r>
              <a:rPr dirty="0"/>
              <a:t> a simulator gives you a perfect measurement, </a:t>
            </a:r>
            <a:r>
              <a:rPr lang="en-GB" dirty="0"/>
              <a:t>but </a:t>
            </a:r>
            <a:r>
              <a:rPr dirty="0"/>
              <a:t>hardware never does</a:t>
            </a:r>
            <a:r>
              <a:rPr lang="en-GB" dirty="0"/>
              <a:t>. This is t</a:t>
            </a:r>
            <a:r>
              <a:rPr dirty="0"/>
              <a:t>he same gap Tobin and colleagues closed in robotics and computer vision by</a:t>
            </a:r>
            <a:r>
              <a:rPr lang="en-GB" dirty="0"/>
              <a:t> </a:t>
            </a:r>
            <a:r>
              <a:rPr dirty="0"/>
              <a:t>training on deliberately varied simulation, and the gap this research aims to</a:t>
            </a:r>
          </a:p>
          <a:p>
            <a:r>
              <a:rPr dirty="0"/>
              <a:t>close for EIT. </a:t>
            </a:r>
            <a:endParaRPr lang="en-GB" dirty="0"/>
          </a:p>
          <a:p>
            <a:endParaRPr lang="en-GB" dirty="0"/>
          </a:p>
          <a:p>
            <a:r>
              <a:rPr dirty="0"/>
              <a:t>Within EIT, four sources dominate: thermal noise</a:t>
            </a:r>
            <a:r>
              <a:rPr lang="en-GB" dirty="0"/>
              <a:t>, </a:t>
            </a:r>
            <a:r>
              <a:rPr lang="en-GB" dirty="0" err="1"/>
              <a:t>tupically</a:t>
            </a:r>
            <a:r>
              <a:rPr lang="en-GB" dirty="0"/>
              <a:t> represented as Gaussian noise</a:t>
            </a:r>
            <a:r>
              <a:rPr dirty="0"/>
              <a:t>, contact</a:t>
            </a:r>
            <a:r>
              <a:rPr lang="en-GB" dirty="0"/>
              <a:t> </a:t>
            </a:r>
            <a:r>
              <a:rPr dirty="0"/>
              <a:t>impedance, electrode placement, and </a:t>
            </a:r>
            <a:r>
              <a:rPr dirty="0" err="1"/>
              <a:t>quantisation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When prior work adds noise at all, it's almost always just Gaussian noise.</a:t>
            </a:r>
            <a:r>
              <a:rPr lang="en-GB" dirty="0"/>
              <a:t> </a:t>
            </a:r>
            <a:r>
              <a:rPr dirty="0"/>
              <a:t>This project asks whether that's enough, and if not, which of the four</a:t>
            </a:r>
            <a:r>
              <a:rPr lang="en-GB" dirty="0"/>
              <a:t> </a:t>
            </a:r>
            <a:r>
              <a:rPr dirty="0"/>
              <a:t>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[The gap, made visible – 2:19 – ~35s]</a:t>
            </a:r>
          </a:p>
          <a:p>
            <a:endParaRPr dirty="0"/>
          </a:p>
          <a:p>
            <a:r>
              <a:rPr dirty="0"/>
              <a:t>Before any classification, here's the problem in one picture. On the left,</a:t>
            </a:r>
            <a:r>
              <a:rPr lang="en-GB" dirty="0"/>
              <a:t> </a:t>
            </a:r>
            <a:r>
              <a:rPr dirty="0"/>
              <a:t>Figure 2 shows five touch types reconstructed from clean simulated</a:t>
            </a:r>
            <a:r>
              <a:rPr lang="en-GB" dirty="0"/>
              <a:t> </a:t>
            </a:r>
            <a:r>
              <a:rPr dirty="0"/>
              <a:t>measurements: you can see exactly where the contact is in each one, and each</a:t>
            </a:r>
            <a:r>
              <a:rPr lang="en-GB" dirty="0"/>
              <a:t> </a:t>
            </a:r>
            <a:r>
              <a:rPr dirty="0"/>
              <a:t>class is clearly separable by its pressure intensity and contact area.</a:t>
            </a:r>
          </a:p>
          <a:p>
            <a:endParaRPr dirty="0"/>
          </a:p>
          <a:p>
            <a:r>
              <a:rPr dirty="0"/>
              <a:t>On the right, the same five with realistic noise switched on. The clear</a:t>
            </a:r>
            <a:r>
              <a:rPr lang="en-GB" dirty="0"/>
              <a:t> </a:t>
            </a:r>
            <a:r>
              <a:rPr dirty="0"/>
              <a:t>distinction between classes has gone </a:t>
            </a:r>
            <a:r>
              <a:rPr lang="en-GB" dirty="0"/>
              <a:t>and </a:t>
            </a:r>
            <a:r>
              <a:rPr dirty="0"/>
              <a:t>classification is</a:t>
            </a:r>
            <a:r>
              <a:rPr lang="en-GB" dirty="0"/>
              <a:t> </a:t>
            </a:r>
            <a:r>
              <a:rPr dirty="0"/>
              <a:t>difficult even to the human eye, let alone a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[Result 1 – 2:54 – ~47s]</a:t>
            </a:r>
          </a:p>
          <a:p>
            <a:endParaRPr dirty="0"/>
          </a:p>
          <a:p>
            <a:r>
              <a:rPr dirty="0"/>
              <a:t>To see how serious this gap is, four classifiers</a:t>
            </a:r>
            <a:r>
              <a:rPr lang="en-GB" dirty="0"/>
              <a:t> were trained</a:t>
            </a:r>
            <a:r>
              <a:rPr dirty="0"/>
              <a:t> — a random</a:t>
            </a:r>
            <a:r>
              <a:rPr lang="en-GB" dirty="0"/>
              <a:t> </a:t>
            </a:r>
            <a:r>
              <a:rPr dirty="0"/>
              <a:t>forest, a support vector machine, a multilayer perceptron and a 1D</a:t>
            </a:r>
            <a:r>
              <a:rPr lang="en-GB" dirty="0"/>
              <a:t> </a:t>
            </a:r>
            <a:r>
              <a:rPr dirty="0"/>
              <a:t>convolutional neural network — each on 25,000 simulated touches, clean and</a:t>
            </a:r>
            <a:r>
              <a:rPr lang="en-GB" dirty="0"/>
              <a:t> </a:t>
            </a:r>
            <a:r>
              <a:rPr dirty="0"/>
              <a:t>noisy in three combinations.</a:t>
            </a:r>
          </a:p>
          <a:p>
            <a:endParaRPr dirty="0"/>
          </a:p>
          <a:p>
            <a:r>
              <a:rPr dirty="0"/>
              <a:t>As Figure 3 shows, on clean data the network reaches ninety-four per cent,</a:t>
            </a:r>
            <a:r>
              <a:rPr lang="en-GB" dirty="0"/>
              <a:t> </a:t>
            </a:r>
            <a:r>
              <a:rPr dirty="0"/>
              <a:t>close to published results. Trained clean but tested noisy, it collapses to</a:t>
            </a:r>
            <a:r>
              <a:rPr lang="en-GB" dirty="0"/>
              <a:t> </a:t>
            </a:r>
            <a:r>
              <a:rPr dirty="0"/>
              <a:t>twenty per cent </a:t>
            </a:r>
            <a:r>
              <a:rPr lang="en-GB" dirty="0"/>
              <a:t>which is</a:t>
            </a:r>
            <a:r>
              <a:rPr dirty="0"/>
              <a:t> as good as guessing. Train and test on noisy data instead,</a:t>
            </a:r>
            <a:r>
              <a:rPr lang="en-GB" dirty="0"/>
              <a:t> </a:t>
            </a:r>
            <a:r>
              <a:rPr dirty="0"/>
              <a:t>and it</a:t>
            </a:r>
            <a:r>
              <a:rPr lang="en-GB" dirty="0"/>
              <a:t> </a:t>
            </a:r>
            <a:r>
              <a:rPr dirty="0"/>
              <a:t>recovers to seventy-six: a fifty-five-point gain. That pattern held</a:t>
            </a:r>
            <a:r>
              <a:rPr lang="en-GB" dirty="0"/>
              <a:t> </a:t>
            </a:r>
            <a:r>
              <a:rPr dirty="0"/>
              <a:t>for all four classifiers, so it isn't something a bigger model fixes on its</a:t>
            </a:r>
            <a:r>
              <a:rPr lang="en-GB" dirty="0"/>
              <a:t> </a:t>
            </a:r>
            <a:r>
              <a:rPr dirty="0"/>
              <a:t>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[Result 2, the main contribution – 3:41 – ~51s]</a:t>
            </a:r>
          </a:p>
          <a:p>
            <a:endParaRPr dirty="0"/>
          </a:p>
          <a:p>
            <a:r>
              <a:rPr dirty="0"/>
              <a:t>The ablation study tests each noise source alone. There are two ways to</a:t>
            </a:r>
            <a:r>
              <a:rPr lang="en-GB" dirty="0"/>
              <a:t> </a:t>
            </a:r>
            <a:r>
              <a:rPr dirty="0"/>
              <a:t>score it.</a:t>
            </a:r>
          </a:p>
          <a:p>
            <a:endParaRPr dirty="0"/>
          </a:p>
          <a:p>
            <a:r>
              <a:rPr lang="en-GB" dirty="0"/>
              <a:t>You can t</a:t>
            </a:r>
            <a:r>
              <a:rPr dirty="0"/>
              <a:t>est each model on the same noise it trained with</a:t>
            </a:r>
            <a:r>
              <a:rPr lang="en-GB" dirty="0"/>
              <a:t>, which is shown by</a:t>
            </a:r>
            <a:r>
              <a:rPr dirty="0"/>
              <a:t> the blue bars in Figure</a:t>
            </a:r>
            <a:r>
              <a:rPr lang="en-GB" dirty="0"/>
              <a:t> </a:t>
            </a:r>
            <a:r>
              <a:rPr dirty="0"/>
              <a:t>4</a:t>
            </a:r>
            <a:r>
              <a:rPr lang="en-GB" dirty="0"/>
              <a:t>. In this analysis, </a:t>
            </a:r>
            <a:r>
              <a:rPr dirty="0"/>
              <a:t>Gaussian noise looks harmless at ninety-seven per cent</a:t>
            </a:r>
            <a:r>
              <a:rPr lang="en-GB" dirty="0"/>
              <a:t> accuracy</a:t>
            </a:r>
            <a:r>
              <a:rPr dirty="0"/>
              <a:t>, </a:t>
            </a:r>
            <a:r>
              <a:rPr lang="en-GB" dirty="0"/>
              <a:t> with </a:t>
            </a:r>
            <a:r>
              <a:rPr dirty="0"/>
              <a:t>electrode</a:t>
            </a:r>
            <a:r>
              <a:rPr lang="en-GB" dirty="0"/>
              <a:t> </a:t>
            </a:r>
            <a:r>
              <a:rPr dirty="0"/>
              <a:t>bias</a:t>
            </a:r>
            <a:r>
              <a:rPr lang="en-GB" dirty="0"/>
              <a:t> being</a:t>
            </a:r>
            <a:r>
              <a:rPr dirty="0"/>
              <a:t> the most damaging.</a:t>
            </a:r>
          </a:p>
          <a:p>
            <a:endParaRPr dirty="0"/>
          </a:p>
          <a:p>
            <a:r>
              <a:rPr dirty="0"/>
              <a:t>Or</a:t>
            </a:r>
            <a:r>
              <a:rPr lang="en-GB" dirty="0"/>
              <a:t> you can</a:t>
            </a:r>
            <a:r>
              <a:rPr dirty="0"/>
              <a:t> test against the full corruption a real device produces</a:t>
            </a:r>
            <a:r>
              <a:rPr lang="en-GB" dirty="0"/>
              <a:t>, shown by</a:t>
            </a:r>
            <a:r>
              <a:rPr dirty="0"/>
              <a:t> the orange</a:t>
            </a:r>
            <a:r>
              <a:rPr lang="en-GB" dirty="0"/>
              <a:t> </a:t>
            </a:r>
            <a:r>
              <a:rPr dirty="0"/>
              <a:t>bars. </a:t>
            </a:r>
            <a:r>
              <a:rPr lang="en-GB" dirty="0"/>
              <a:t>Here the</a:t>
            </a:r>
            <a:r>
              <a:rPr dirty="0"/>
              <a:t> story reverses: electrode bias is the only source anywhere close</a:t>
            </a:r>
            <a:r>
              <a:rPr lang="en-GB" dirty="0"/>
              <a:t> </a:t>
            </a:r>
            <a:r>
              <a:rPr dirty="0"/>
              <a:t>to surviving</a:t>
            </a:r>
            <a:r>
              <a:rPr lang="en-GB" dirty="0"/>
              <a:t> as</a:t>
            </a:r>
            <a:r>
              <a:rPr dirty="0"/>
              <a:t> the rest fall close to chance. </a:t>
            </a:r>
            <a:r>
              <a:rPr lang="en-GB" dirty="0"/>
              <a:t>This is to be expected as e</a:t>
            </a:r>
            <a:r>
              <a:rPr dirty="0" err="1"/>
              <a:t>lectrode</a:t>
            </a:r>
            <a:r>
              <a:rPr dirty="0"/>
              <a:t> positioning error is already flagged in the EIT</a:t>
            </a:r>
            <a:r>
              <a:rPr lang="en-GB" dirty="0"/>
              <a:t> </a:t>
            </a:r>
            <a:r>
              <a:rPr dirty="0"/>
              <a:t>literature as a dominant modelling error (Kolehmainen et al., 1997)</a:t>
            </a:r>
            <a:r>
              <a:rPr lang="en-GB" dirty="0"/>
              <a:t>, and</a:t>
            </a:r>
            <a:r>
              <a:rPr dirty="0"/>
              <a:t> </a:t>
            </a:r>
            <a:r>
              <a:rPr lang="en-GB" dirty="0"/>
              <a:t>t</a:t>
            </a:r>
            <a:r>
              <a:rPr dirty="0"/>
              <a:t>his</a:t>
            </a:r>
            <a:r>
              <a:rPr lang="en-GB" dirty="0"/>
              <a:t> </a:t>
            </a:r>
            <a:r>
              <a:rPr dirty="0"/>
              <a:t>result confirms it</a:t>
            </a:r>
            <a:r>
              <a:rPr lang="en-GB" dirty="0"/>
              <a:t> </a:t>
            </a:r>
            <a:r>
              <a:rPr dirty="0"/>
              <a:t>under the correct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[Result 3 – 4:32 – ~57s]</a:t>
            </a:r>
          </a:p>
          <a:p>
            <a:endParaRPr dirty="0"/>
          </a:p>
          <a:p>
            <a:r>
              <a:rPr dirty="0"/>
              <a:t>Using the correct protocol, two of the four components carry everything:</a:t>
            </a:r>
            <a:r>
              <a:rPr lang="en-GB" dirty="0"/>
              <a:t> </a:t>
            </a:r>
            <a:r>
              <a:rPr dirty="0"/>
              <a:t>electrode bias plus Gaussian noise reaches 76.5 per cent, </a:t>
            </a:r>
            <a:r>
              <a:rPr lang="en-GB" dirty="0"/>
              <a:t>which is </a:t>
            </a:r>
            <a:r>
              <a:rPr dirty="0"/>
              <a:t>level with the full</a:t>
            </a:r>
            <a:r>
              <a:rPr lang="en-GB" dirty="0"/>
              <a:t> </a:t>
            </a:r>
            <a:r>
              <a:rPr dirty="0"/>
              <a:t>model</a:t>
            </a:r>
            <a:r>
              <a:rPr lang="en-GB" dirty="0"/>
              <a:t>. This halves</a:t>
            </a:r>
            <a:r>
              <a:rPr dirty="0"/>
              <a:t> the noise model with no loss of accuracy.</a:t>
            </a:r>
          </a:p>
          <a:p>
            <a:endParaRPr dirty="0"/>
          </a:p>
          <a:p>
            <a:r>
              <a:rPr dirty="0"/>
              <a:t>That decomposes further. The 'no contact' class in simulation is an exact</a:t>
            </a:r>
            <a:r>
              <a:rPr lang="en-GB" dirty="0"/>
              <a:t> </a:t>
            </a:r>
            <a:r>
              <a:rPr dirty="0"/>
              <a:t>vector of zeros, so I removed it and reran on the four real touches alone.</a:t>
            </a:r>
            <a:r>
              <a:rPr lang="en-GB" dirty="0"/>
              <a:t> </a:t>
            </a:r>
            <a:r>
              <a:rPr dirty="0"/>
              <a:t>Electrode bias alone then matches the full model</a:t>
            </a:r>
            <a:r>
              <a:rPr lang="en-GB" dirty="0"/>
              <a:t>, meaning</a:t>
            </a:r>
            <a:r>
              <a:rPr dirty="0"/>
              <a:t> Gaussian noise was never</a:t>
            </a:r>
            <a:r>
              <a:rPr lang="en-GB" dirty="0"/>
              <a:t> </a:t>
            </a:r>
            <a:r>
              <a:rPr dirty="0"/>
              <a:t>providing</a:t>
            </a:r>
            <a:r>
              <a:rPr lang="en-GB" dirty="0"/>
              <a:t> any </a:t>
            </a:r>
            <a:r>
              <a:rPr dirty="0"/>
              <a:t>robustness, just making a class that’s </a:t>
            </a:r>
            <a:r>
              <a:rPr lang="en-GB" dirty="0"/>
              <a:t>degenerate </a:t>
            </a:r>
            <a:r>
              <a:rPr dirty="0"/>
              <a:t>in training</a:t>
            </a:r>
            <a:r>
              <a:rPr lang="en-GB" dirty="0"/>
              <a:t> </a:t>
            </a:r>
            <a:r>
              <a:rPr dirty="0" err="1"/>
              <a:t>recognisable</a:t>
            </a:r>
            <a:r>
              <a:rPr dirty="0"/>
              <a:t> when it arrives noisy.</a:t>
            </a:r>
          </a:p>
          <a:p>
            <a:endParaRPr dirty="0"/>
          </a:p>
          <a:p>
            <a:r>
              <a:rPr dirty="0"/>
              <a:t>Figure 5 shows why that matters: no-contact is recovered perfectly,</a:t>
            </a:r>
            <a:r>
              <a:rPr lang="en-GB" dirty="0"/>
              <a:t> which is</a:t>
            </a:r>
            <a:r>
              <a:rPr dirty="0"/>
              <a:t> a direct</a:t>
            </a:r>
            <a:r>
              <a:rPr lang="en-GB" dirty="0"/>
              <a:t> </a:t>
            </a:r>
            <a:r>
              <a:rPr dirty="0"/>
              <a:t>consequence of that Gaussian floor, while point contact is the weakest</a:t>
            </a:r>
            <a:r>
              <a:rPr lang="en-GB" dirty="0"/>
              <a:t> </a:t>
            </a:r>
            <a:r>
              <a:rPr dirty="0"/>
              <a:t>class. </a:t>
            </a:r>
            <a:r>
              <a:rPr lang="en-GB" dirty="0"/>
              <a:t>This means o</a:t>
            </a:r>
            <a:r>
              <a:rPr dirty="0"/>
              <a:t>ne component </a:t>
            </a:r>
            <a:r>
              <a:rPr lang="en-GB" dirty="0"/>
              <a:t>discriminates </a:t>
            </a:r>
            <a:r>
              <a:rPr dirty="0"/>
              <a:t>between touches, </a:t>
            </a:r>
            <a:r>
              <a:rPr lang="en-GB" dirty="0"/>
              <a:t>whilst a </a:t>
            </a:r>
            <a:r>
              <a:rPr dirty="0"/>
              <a:t>noise floor </a:t>
            </a:r>
            <a:r>
              <a:rPr lang="en-GB" dirty="0"/>
              <a:t>helps </a:t>
            </a:r>
            <a:r>
              <a:rPr dirty="0"/>
              <a:t>to</a:t>
            </a:r>
            <a:r>
              <a:rPr lang="en-GB" dirty="0"/>
              <a:t> </a:t>
            </a:r>
            <a:r>
              <a:rPr dirty="0"/>
              <a:t>detect touch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[Limitations – 5:28 – ~54s]</a:t>
            </a:r>
          </a:p>
          <a:p>
            <a:endParaRPr dirty="0"/>
          </a:p>
          <a:p>
            <a:r>
              <a:rPr lang="en-GB" dirty="0"/>
              <a:t>Based on these results, the research can justify the following claims: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W</a:t>
            </a:r>
            <a:r>
              <a:rPr dirty="0" err="1"/>
              <a:t>hich</a:t>
            </a:r>
            <a:r>
              <a:rPr dirty="0"/>
              <a:t> noise sources matter</a:t>
            </a:r>
            <a:r>
              <a:rPr lang="en-GB" dirty="0"/>
              <a:t> </a:t>
            </a:r>
            <a:r>
              <a:rPr dirty="0"/>
              <a:t>and why</a:t>
            </a:r>
            <a:r>
              <a:rPr lang="en-GB" dirty="0"/>
              <a:t>, that the ablation protocol inverts that answer and a tested mechanism for the architecture result. </a:t>
            </a:r>
          </a:p>
          <a:p>
            <a:endParaRPr dirty="0"/>
          </a:p>
          <a:p>
            <a:r>
              <a:rPr lang="en-GB" dirty="0"/>
              <a:t>Its limitations are as follows:</a:t>
            </a:r>
            <a:br>
              <a:rPr lang="en-GB" dirty="0"/>
            </a:br>
            <a:br>
              <a:rPr lang="en-GB" dirty="0"/>
            </a:br>
            <a:r>
              <a:rPr dirty="0"/>
              <a:t>I cannot claim any of it survives contact with hardware. Every number is</a:t>
            </a:r>
            <a:r>
              <a:rPr lang="en-GB" dirty="0"/>
              <a:t> </a:t>
            </a:r>
            <a:r>
              <a:rPr dirty="0"/>
              <a:t>simulated in 2D — a real device isn't, and I only classify single, static</a:t>
            </a:r>
            <a:r>
              <a:rPr lang="en-GB" dirty="0"/>
              <a:t> </a:t>
            </a:r>
            <a:r>
              <a:rPr dirty="0"/>
              <a:t>frames, so drift over time isn't represented at all. My electrode bias is</a:t>
            </a:r>
            <a:r>
              <a:rPr lang="en-GB" dirty="0"/>
              <a:t> </a:t>
            </a:r>
            <a:r>
              <a:rPr dirty="0"/>
              <a:t>drawn independently per electrode, and on a stretched sheet it would be</a:t>
            </a:r>
            <a:r>
              <a:rPr lang="en-GB" dirty="0"/>
              <a:t> </a:t>
            </a:r>
            <a:r>
              <a:rPr dirty="0"/>
              <a:t>spatially correlated — measuring that covariance is the first experiment I'd</a:t>
            </a:r>
            <a:r>
              <a:rPr lang="en-GB" dirty="0"/>
              <a:t> </a:t>
            </a:r>
            <a:r>
              <a:rPr dirty="0"/>
              <a:t>run next. And seventy-six per cent isn't deployable: detecting contact is</a:t>
            </a:r>
            <a:r>
              <a:rPr lang="en-GB" dirty="0"/>
              <a:t> </a:t>
            </a:r>
            <a:r>
              <a:rPr dirty="0"/>
              <a:t>reliable, saying which touch it was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[Close – 6:22 – ~31s]</a:t>
            </a:r>
          </a:p>
          <a:p>
            <a:endParaRPr dirty="0"/>
          </a:p>
          <a:p>
            <a:r>
              <a:rPr lang="en-GB" dirty="0"/>
              <a:t>In conclusion</a:t>
            </a:r>
            <a:r>
              <a:rPr dirty="0"/>
              <a:t>: realistic noise collapses accuracy from ninety-four</a:t>
            </a:r>
            <a:r>
              <a:rPr lang="en-GB" dirty="0"/>
              <a:t> </a:t>
            </a:r>
            <a:r>
              <a:rPr dirty="0"/>
              <a:t>to twenty per cent, and training on it recovers seventy-six. How you</a:t>
            </a:r>
            <a:r>
              <a:rPr lang="en-GB" dirty="0"/>
              <a:t> </a:t>
            </a:r>
            <a:r>
              <a:rPr dirty="0"/>
              <a:t>evaluate an ablation decides its conclusion, not just its result</a:t>
            </a:r>
            <a:r>
              <a:rPr lang="en-GB" dirty="0"/>
              <a:t>, and an electrode bias and gaussian noise model is sufficient to match optimal deployment on domain shifted environments</a:t>
            </a:r>
            <a:r>
              <a:rPr dirty="0"/>
              <a:t>.</a:t>
            </a:r>
          </a:p>
          <a:p>
            <a:endParaRPr lang="en-GB" dirty="0"/>
          </a:p>
          <a:p>
            <a:r>
              <a:rPr lang="en-GB" dirty="0"/>
              <a:t>This shows that </a:t>
            </a:r>
            <a:r>
              <a:rPr dirty="0"/>
              <a:t>noise-aware training closes most of the gap, but only if</a:t>
            </a:r>
            <a:r>
              <a:rPr lang="en-GB" dirty="0"/>
              <a:t> </a:t>
            </a:r>
            <a:r>
              <a:rPr dirty="0"/>
              <a:t>you test it against the world the device will meet.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[References – 6:53 – ~10s, not narrated]</a:t>
            </a:r>
            <a:endParaRPr lang="en-GB" dirty="0"/>
          </a:p>
          <a:p>
            <a:endParaRPr dirty="0"/>
          </a:p>
          <a:p>
            <a:r>
              <a:rPr lang="en-GB" dirty="0"/>
              <a:t>Thank you for listening, I’m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85216"/>
            <a:ext cx="9829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Calibri"/>
              </a:rPr>
              <a:t>MSc Artificial Intelligence in Engineering and Design – EE52037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31136"/>
            <a:ext cx="10241280" cy="2075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dirty="0">
                <a:solidFill>
                  <a:srgbClr val="1A1A1A"/>
                </a:solidFill>
                <a:latin typeface="Calibri"/>
              </a:rPr>
              <a:t>A Physically Motivated Noise Model for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dirty="0">
                <a:solidFill>
                  <a:srgbClr val="1A1A1A"/>
                </a:solidFill>
                <a:latin typeface="Calibri"/>
              </a:rPr>
              <a:t>Robust EIT Tactile Classification Under Simulated Domain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66360"/>
            <a:ext cx="10241280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A5A5A"/>
                </a:solidFill>
                <a:latin typeface="Calibri"/>
              </a:rPr>
              <a:t>Author: Ronald Piku       </a:t>
            </a: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A5A5A"/>
                </a:solidFill>
                <a:latin typeface="Calibri"/>
              </a:rPr>
              <a:t>Supervisor: Prof. Manuchehr Soleimani</a:t>
            </a:r>
          </a:p>
          <a:p>
            <a:pPr algn="r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solidFill>
                  <a:srgbClr val="5A5A5A"/>
                </a:solidFill>
                <a:latin typeface="Calibri"/>
              </a:rPr>
              <a:t>Department of Electronic and Electrical Engineering, University of Bath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93608" y="0"/>
            <a:ext cx="3904487" cy="238658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1728"/>
            <a:ext cx="2898648" cy="217627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01168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 i="0" dirty="0">
                <a:solidFill>
                  <a:srgbClr val="1A1A1A"/>
                </a:solidFill>
                <a:latin typeface="Calibri"/>
              </a:rPr>
              <a:t>This project asks whether a physically motivated noise model can close the simulation-to-reality gap in EIT tactile sensing, and which noise sources need to be in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063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3081528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The problem and the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483864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why simulated EIT classifiers fail on realistic measurements, and what “the gap” means.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087368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Three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489704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what closes the gap, how it was tested, and the minimal model that is left standing.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74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093208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Testing the claims, and their limits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495544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stress-testing assumptions, then reviewing the limitations.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THE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How do we get Prosthetics to Feel?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148840"/>
            <a:ext cx="484632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750" b="0" i="0">
                <a:solidFill>
                  <a:srgbClr val="1A1A1A"/>
                </a:solidFill>
                <a:latin typeface="Calibri"/>
              </a:rPr>
              <a:t>57.7 million people live with limb loss (McDonald et al., 2021).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endParaRPr sz="1750" b="0" i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750" b="0" i="0">
                <a:solidFill>
                  <a:srgbClr val="1A1A1A"/>
                </a:solidFill>
                <a:latin typeface="Calibri"/>
              </a:rPr>
              <a:t>More than a third abandon myoelectric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750" b="0" i="0">
                <a:solidFill>
                  <a:srgbClr val="1A1A1A"/>
                </a:solidFill>
                <a:latin typeface="Calibri"/>
              </a:rPr>
              <a:t>prostheses — the absence of touch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750" b="0" i="0">
                <a:solidFill>
                  <a:srgbClr val="1A1A1A"/>
                </a:solidFill>
                <a:latin typeface="Calibri"/>
              </a:rPr>
              <a:t>is a leading reason (Biddiss and Chau, 2007).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endParaRPr sz="1750" b="0" i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750" b="0" i="0">
                <a:solidFill>
                  <a:srgbClr val="1A1A1A"/>
                </a:solidFill>
                <a:latin typeface="Calibri"/>
              </a:rPr>
              <a:t>A prosthetic arm has no way of sensing how it is touched or handled, by its wearer or by someone else, without looking at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084831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Electrical Impedance Tomography (EIT) turns a sheet of soft material into one continuous touch sensor:</a:t>
            </a:r>
          </a:p>
        </p:txBody>
      </p:sp>
      <p:pic>
        <p:nvPicPr>
          <p:cNvPr id="30" name="Picture 29" descr="p_ei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43200"/>
            <a:ext cx="5120640" cy="29542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58064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Figure 1. EIT sensing principle applied to a prosthetic arm.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WHERE THE FIELD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Excellent simulation performance, Unreliable in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0116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Calibri"/>
              </a:rPr>
              <a:t>Published EIT touch classifiers report 98–99% accuracy (Park et al., 2022; Chen et al., 2023). Almost all are trained on simulated measurements, because labelled real data is expensive.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2697480"/>
            <a:ext cx="10515600" cy="1005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2798064"/>
            <a:ext cx="9875520" cy="892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550" b="1" i="0" dirty="0">
                <a:solidFill>
                  <a:srgbClr val="1A1A1A"/>
                </a:solidFill>
                <a:latin typeface="Calibri"/>
              </a:rPr>
              <a:t>The sim2real gap: the drop in performance when a model trained on </a:t>
            </a:r>
            <a:r>
              <a:rPr sz="1550" b="1" i="0" dirty="0" err="1">
                <a:solidFill>
                  <a:srgbClr val="1A1A1A"/>
                </a:solidFill>
                <a:latin typeface="Calibri"/>
              </a:rPr>
              <a:t>idealised</a:t>
            </a:r>
            <a:r>
              <a:rPr sz="1550" b="1" i="0" dirty="0">
                <a:solidFill>
                  <a:srgbClr val="1A1A1A"/>
                </a:solidFill>
                <a:latin typeface="Calibri"/>
              </a:rPr>
              <a:t> simulated data meets the imperfections of real hardware</a:t>
            </a:r>
            <a:r>
              <a:rPr lang="en-GB" sz="1550" b="1" i="0" dirty="0">
                <a:solidFill>
                  <a:srgbClr val="1A1A1A"/>
                </a:solidFill>
                <a:latin typeface="Calibri"/>
              </a:rPr>
              <a:t>. </a:t>
            </a:r>
            <a:r>
              <a:rPr lang="en-GB" sz="1550" b="1" dirty="0">
                <a:solidFill>
                  <a:srgbClr val="1A1A1A"/>
                </a:solidFill>
                <a:latin typeface="Calibri"/>
              </a:rPr>
              <a:t>D</a:t>
            </a:r>
            <a:r>
              <a:rPr sz="1550" b="1" i="0" dirty="0" err="1">
                <a:solidFill>
                  <a:srgbClr val="1A1A1A"/>
                </a:solidFill>
                <a:latin typeface="Calibri"/>
              </a:rPr>
              <a:t>ocumented</a:t>
            </a:r>
            <a:r>
              <a:rPr sz="1550" b="1" i="0" dirty="0">
                <a:solidFill>
                  <a:srgbClr val="1A1A1A"/>
                </a:solidFill>
                <a:latin typeface="Calibri"/>
              </a:rPr>
              <a:t> in other ML domains such as robotics and computer vision (Tobin et al., 2017</a:t>
            </a:r>
            <a:r>
              <a:rPr lang="en-GB" sz="1550" b="1" i="0" dirty="0">
                <a:solidFill>
                  <a:srgbClr val="1A1A1A"/>
                </a:solidFill>
                <a:latin typeface="Calibri"/>
              </a:rPr>
              <a:t>) but</a:t>
            </a:r>
            <a:r>
              <a:rPr sz="1550" b="1" i="0" dirty="0">
                <a:solidFill>
                  <a:srgbClr val="1A1A1A"/>
                </a:solidFill>
                <a:latin typeface="Calibri"/>
              </a:rPr>
              <a:t> rarely modelled in EIT tactile sensing.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9136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Within EIT, four sources dominate: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70832"/>
            <a:ext cx="3017520" cy="2582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i="0" dirty="0">
                <a:solidFill>
                  <a:srgbClr val="2A78D6"/>
                </a:solidFill>
                <a:latin typeface="Calibri"/>
              </a:rPr>
              <a:t>Thermal</a:t>
            </a:r>
            <a:r>
              <a:rPr lang="en-GB" sz="1550" b="1" i="0" dirty="0">
                <a:solidFill>
                  <a:srgbClr val="2A78D6"/>
                </a:solidFill>
                <a:latin typeface="Calibri"/>
              </a:rPr>
              <a:t> (Gaussian)</a:t>
            </a:r>
            <a:r>
              <a:rPr sz="1550" b="1" i="0" dirty="0">
                <a:solidFill>
                  <a:srgbClr val="2A78D6"/>
                </a:solidFill>
                <a:latin typeface="Calibri"/>
              </a:rPr>
              <a:t> noise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3708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in the amplifiers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80060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Contact impedance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800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varies electrode to electrode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2303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Electrode placement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23036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is never exactly where the model assumes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66013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 i="0">
                <a:solidFill>
                  <a:srgbClr val="2A78D6"/>
                </a:solidFill>
                <a:latin typeface="Calibri"/>
              </a:rPr>
              <a:t>Quantisation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566013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0" i="0">
                <a:solidFill>
                  <a:srgbClr val="5A5A5A"/>
                </a:solidFill>
                <a:latin typeface="Calibri"/>
              </a:rPr>
              <a:t>from the analogue-to-digital converter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06247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A1A1A"/>
                </a:solidFill>
                <a:latin typeface="Calibri"/>
              </a:rPr>
              <a:t>Prior work augments predominantly with Gaussian noise only, if any.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VISUALISING THE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What Noise Does to the Signal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19659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Clean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1965960"/>
            <a:ext cx="420624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EB6834"/>
                </a:solidFill>
                <a:latin typeface="Calibri"/>
              </a:rPr>
              <a:t>With noise</a:t>
            </a:r>
          </a:p>
        </p:txBody>
      </p:sp>
      <p:pic>
        <p:nvPicPr>
          <p:cNvPr id="30" name="Picture 29" descr="random_reconstructed_class_images_clean.png"/>
          <p:cNvPicPr>
            <a:picLocks noChangeAspect="1"/>
          </p:cNvPicPr>
          <p:nvPr/>
        </p:nvPicPr>
        <p:blipFill>
          <a:blip r:embed="rId3"/>
          <a:srcRect t="6000"/>
          <a:stretch>
            <a:fillRect/>
          </a:stretch>
        </p:blipFill>
        <p:spPr>
          <a:xfrm>
            <a:off x="822960" y="2423160"/>
            <a:ext cx="5029200" cy="3029205"/>
          </a:xfrm>
          <a:prstGeom prst="rect">
            <a:avLst/>
          </a:prstGeom>
        </p:spPr>
      </p:pic>
      <p:pic>
        <p:nvPicPr>
          <p:cNvPr id="31" name="Picture 30" descr="random_reconstructed_class_images_noisy.png"/>
          <p:cNvPicPr>
            <a:picLocks noChangeAspect="1"/>
          </p:cNvPicPr>
          <p:nvPr/>
        </p:nvPicPr>
        <p:blipFill>
          <a:blip r:embed="rId4"/>
          <a:srcRect t="6000"/>
          <a:stretch>
            <a:fillRect/>
          </a:stretch>
        </p:blipFill>
        <p:spPr>
          <a:xfrm>
            <a:off x="6309360" y="2423160"/>
            <a:ext cx="5029200" cy="302920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7240" y="55961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50" b="0" i="0">
                <a:solidFill>
                  <a:srgbClr val="5A5A5A"/>
                </a:solidFill>
                <a:latin typeface="Calibri"/>
              </a:rPr>
              <a:t>Same five touches. The contact is plainly visible on the left and gone on the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Figure 2. Reconstructed touch classes under clean (left) and noisy (right) measurement conditions.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RESULT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Identifying and Closing the Sim-to-Real 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p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1874519"/>
            <a:ext cx="6492240" cy="3246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5193792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Figure 3. A 1D-CNN trained and evaluated across clean and noisy conditions.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59552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Calibri"/>
              </a:rPr>
              <a:t>Four architectures, three feature representations, same collapse. It is not a capacity problem — it is a distribution problem.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RESULT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Which Noise Components Matter?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p_i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1847088"/>
            <a:ext cx="6492240" cy="32461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51663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Figure 4. Each noise component scored under its own matched protocol versus full deployment corruption.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10607040" cy="2849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 dirty="0">
                <a:solidFill>
                  <a:srgbClr val="5A5A5A"/>
                </a:solidFill>
                <a:latin typeface="Calibri"/>
              </a:rPr>
              <a:t>Blue is the conventional protocol</a:t>
            </a:r>
            <a:r>
              <a:rPr lang="en-GB" sz="1600" dirty="0">
                <a:solidFill>
                  <a:srgbClr val="5A5A5A"/>
                </a:solidFill>
                <a:latin typeface="Calibri"/>
              </a:rPr>
              <a:t>.</a:t>
            </a:r>
            <a:r>
              <a:rPr sz="1600" b="0" i="0" dirty="0">
                <a:solidFill>
                  <a:srgbClr val="5A5A5A"/>
                </a:solidFill>
                <a:latin typeface="Calibri"/>
              </a:rPr>
              <a:t> </a:t>
            </a:r>
            <a:r>
              <a:rPr lang="en-GB" sz="1600" dirty="0">
                <a:solidFill>
                  <a:srgbClr val="5A5A5A"/>
                </a:solidFill>
                <a:latin typeface="Calibri"/>
              </a:rPr>
              <a:t>I</a:t>
            </a:r>
            <a:r>
              <a:rPr sz="1600" b="0" i="0" dirty="0">
                <a:solidFill>
                  <a:srgbClr val="5A5A5A"/>
                </a:solidFill>
                <a:latin typeface="Calibri"/>
              </a:rPr>
              <a:t>t rewards a model for defining an easier world, not for surviving a real 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RESULT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The Optimal Noise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029968"/>
            <a:ext cx="5074920" cy="406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•  Electrode bias + Gaussian noise reaches 76.5% — level with the full four-component model.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endParaRPr sz="16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•  Contact impedance and </a:t>
            </a:r>
            <a:r>
              <a:rPr sz="1600" b="0" i="0" dirty="0" err="1">
                <a:solidFill>
                  <a:srgbClr val="1A1A1A"/>
                </a:solidFill>
                <a:latin typeface="Calibri"/>
              </a:rPr>
              <a:t>quantisation</a:t>
            </a:r>
            <a:r>
              <a:rPr sz="1600" b="0" i="0" dirty="0">
                <a:solidFill>
                  <a:srgbClr val="1A1A1A"/>
                </a:solidFill>
                <a:latin typeface="Calibri"/>
              </a:rPr>
              <a:t> add nothing measurable.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endParaRPr sz="16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•  The 'no contact' class is an exact zero vector in simulation. Remove it, and electrode bias alone matches the full model (70.5% vs 69.8%).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endParaRPr sz="1600" b="0" i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•  Gaussian noise was never conferring </a:t>
            </a:r>
            <a:r>
              <a:rPr lang="en-GB" sz="1600" b="0" i="0" dirty="0">
                <a:solidFill>
                  <a:srgbClr val="1A1A1A"/>
                </a:solidFill>
                <a:latin typeface="Calibri"/>
              </a:rPr>
              <a:t>robustness;</a:t>
            </a:r>
            <a:r>
              <a:rPr sz="1600" b="0" i="0" dirty="0">
                <a:solidFill>
                  <a:srgbClr val="1A1A1A"/>
                </a:solidFill>
                <a:latin typeface="Calibri"/>
              </a:rPr>
              <a:t> it was making one degenerate class detectable.</a:t>
            </a:r>
          </a:p>
        </p:txBody>
      </p:sp>
      <p:pic>
        <p:nvPicPr>
          <p:cNvPr id="29" name="Picture 28" descr="p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74519"/>
            <a:ext cx="4160520" cy="353013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9360" y="5504688"/>
            <a:ext cx="5120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1" dirty="0">
                <a:solidFill>
                  <a:srgbClr val="5A5A5A"/>
                </a:solidFill>
                <a:latin typeface="Calibri"/>
              </a:rPr>
              <a:t>Figure 5. Confusion matrix, noise-aware CNN</a:t>
            </a:r>
            <a:r>
              <a:rPr lang="en-GB" sz="1250" b="0" i="1" dirty="0">
                <a:solidFill>
                  <a:srgbClr val="5A5A5A"/>
                </a:solidFill>
                <a:latin typeface="Calibri"/>
              </a:rPr>
              <a:t>.</a:t>
            </a:r>
            <a:endParaRPr sz="1250" b="0" i="1" dirty="0">
              <a:solidFill>
                <a:srgbClr val="5A5A5A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606247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50" b="1" i="0">
                <a:solidFill>
                  <a:srgbClr val="2A78D6"/>
                </a:solidFill>
                <a:latin typeface="Calibri"/>
              </a:rPr>
              <a:t>One component to tell touches apart. A noise floor to notice touch at all.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777240" y="4754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What this is, and what it is not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1488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What the research supports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651760"/>
            <a:ext cx="4937760" cy="2753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1A1A1A"/>
                </a:solidFill>
                <a:latin typeface="Calibri"/>
              </a:rPr>
              <a:t>Which noise sources a training model needs, and why.</a:t>
            </a:r>
            <a:endParaRPr sz="1600" b="0" i="0" dirty="0">
              <a:solidFill>
                <a:srgbClr val="1A1A1A"/>
              </a:solidFill>
              <a:latin typeface="Calibri"/>
            </a:endParaRP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sz="1600" b="0" i="0" dirty="0">
              <a:solidFill>
                <a:srgbClr val="1A1A1A"/>
              </a:solidFill>
              <a:latin typeface="Calibri"/>
            </a:endParaRP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600" b="0" i="0" dirty="0">
                <a:solidFill>
                  <a:srgbClr val="1A1A1A"/>
                </a:solidFill>
                <a:latin typeface="Calibri"/>
              </a:rPr>
              <a:t>That the conventional ablation protocol inverts that answer.</a:t>
            </a: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GB" sz="1600" b="0" i="0" dirty="0">
              <a:solidFill>
                <a:srgbClr val="1A1A1A"/>
              </a:solidFill>
              <a:latin typeface="Calibri"/>
            </a:endParaRP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A1A1A"/>
                </a:solidFill>
                <a:latin typeface="Calibri"/>
              </a:rPr>
              <a:t>A mechanism for the architecture result, tested rather than assumed.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endParaRPr sz="16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60" y="2148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EB6834"/>
                </a:solidFill>
                <a:latin typeface="Calibri"/>
              </a:rPr>
              <a:t>What it doesn't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51760"/>
            <a:ext cx="5029200" cy="2701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5A5A5A"/>
                </a:solidFill>
                <a:latin typeface="Calibri"/>
              </a:rPr>
              <a:t>Every number here is from simulation. There is no hardware validation.</a:t>
            </a: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sz="1600" b="0" i="0" dirty="0">
              <a:solidFill>
                <a:srgbClr val="5A5A5A"/>
              </a:solidFill>
              <a:latin typeface="Calibri"/>
            </a:endParaRP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5A5A5A"/>
                </a:solidFill>
                <a:latin typeface="Calibri"/>
              </a:rPr>
              <a:t>Electrode bias is assumed independent per electrode; a stretched sheet would correlate it.</a:t>
            </a: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sz="1600" b="0" i="0" dirty="0">
              <a:solidFill>
                <a:srgbClr val="5A5A5A"/>
              </a:solidFill>
              <a:latin typeface="Calibri"/>
            </a:endParaRPr>
          </a:p>
          <a:p>
            <a:pPr marL="285750" indent="-285750" algn="l">
              <a:lnSpc>
                <a:spcPct val="128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5A5A5A"/>
                </a:solidFill>
                <a:latin typeface="Calibri"/>
              </a:rPr>
              <a:t>76% is not deployable. Detecting that contact happened is reliable; identifying which touch it was is not.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Conclusions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084831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2093975"/>
            <a:ext cx="10104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Realistic noise collapses simulated accuracy from 94% to 20%; training on it recovers 76%.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7432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2752344"/>
            <a:ext cx="10104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How you evaluate an ablation decides its conclusion, not just its result.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4015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410711"/>
            <a:ext cx="10104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Electrode bias and Gaussian noise, together, are necessary and sufficient.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160520"/>
            <a:ext cx="10515600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" y="4315968"/>
            <a:ext cx="9875520" cy="719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lang="en-GB" sz="1900" b="1" dirty="0">
                <a:solidFill>
                  <a:srgbClr val="1A1A1A"/>
                </a:solidFill>
                <a:latin typeface="Calibri"/>
              </a:rPr>
              <a:t>N</a:t>
            </a:r>
            <a:r>
              <a:rPr sz="1900" b="1" i="0" dirty="0" err="1">
                <a:solidFill>
                  <a:srgbClr val="1A1A1A"/>
                </a:solidFill>
                <a:latin typeface="Calibri"/>
              </a:rPr>
              <a:t>oise</a:t>
            </a:r>
            <a:r>
              <a:rPr sz="1900" b="1" i="0" dirty="0">
                <a:solidFill>
                  <a:srgbClr val="1A1A1A"/>
                </a:solidFill>
                <a:latin typeface="Calibri"/>
              </a:rPr>
              <a:t>-aware training closes most of the simulation-to-reality gap</a:t>
            </a:r>
            <a:r>
              <a:rPr lang="en-GB" sz="1900" b="1" i="0" dirty="0">
                <a:solidFill>
                  <a:srgbClr val="1A1A1A"/>
                </a:solidFill>
                <a:latin typeface="Calibri"/>
              </a:rPr>
              <a:t>,</a:t>
            </a:r>
            <a:r>
              <a:rPr sz="1900" b="1" i="0" dirty="0">
                <a:solidFill>
                  <a:srgbClr val="1A1A1A"/>
                </a:solidFill>
                <a:latin typeface="Calibri"/>
              </a:rPr>
              <a:t> but only if you test it against the world the device will meet.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61320" y="-91440"/>
            <a:ext cx="1691640" cy="1033271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137160" y="6053328"/>
            <a:ext cx="1188720" cy="896112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77240" y="841248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Calibri"/>
              </a:rPr>
              <a:t>References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1755648"/>
            <a:ext cx="10607040" cy="20320"/>
          </a:xfrm>
          <a:prstGeom prst="rect">
            <a:avLst/>
          </a:prstGeom>
          <a:solidFill>
            <a:srgbClr val="E6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Biddiss, E. and Chau, T. (2007) 'Upper-limb prosthetics: critical factors in device abandonment', American Journal of Physical Medicine &amp; Rehabilitation, 86(12), pp. 977–987.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Chen, H., Langlois, K., Brancart, J., Roels, E., Verstraten, T. and Vanderborght, B. (2023) 'A novel physical human–robot interface with pressure distribution measurement based on electrical impedance tomography', IEEE Sensors Journal, 23(18), pp. 21914–21923.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Costa Cornellà, A., Hardman, D., Costi, L., Brancart, J., Van Assche, G. and Iida, F. (2023) 'Variable sensitivity multimaterial robotic e-skin combining electronic and ionic conductivity using electrical impedance tomography', Scientific Reports, 13(1), 20004.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Kolehmainen, V., Vauhkonen, M., Karjalainen, P.A. and Kaipio, J.P. (1997) 'Assessment of errors in static electrical impedance tomography with adjacent and trigonometric current patterns', Physiological Measurement, 18(4), pp. 289–303.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McDonald, C.L., Westcott-McCoy, S., Weaver, M.R., Haagsma, J. and Kartin, D. (2021) 'Global prevalence of traumatic non-fatal limb amputation', Prosthetics &amp; Orthotics International, 45(2), pp. 105–114.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Park, K., Yuk, H., Yang, M., Cho, J., Lee, H. and Kim, J. (2022) 'A biomimetic elastomeric robot skin using electrical impedance and acoustic tomography for tactile sensing', Science Robotics, 7(67), eabm7187.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Tobin, J., Fong, R., Ray, A., Schneider, J., Zaremba, W. and Abbeel, P. (2017) 'Domain randomization for transferring deep neural networks from simulation to the real world', 2017 IEEE/RSJ International Conference on Intelligent Robots and Systems (IROS), pp. 23–30.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3276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2380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Ronald Piku</cp:lastModifiedBy>
  <cp:revision>18</cp:revision>
  <dcterms:created xsi:type="dcterms:W3CDTF">2013-01-27T09:14:16Z</dcterms:created>
  <dcterms:modified xsi:type="dcterms:W3CDTF">2026-08-28T17:30:24Z</dcterms:modified>
  <cp:category/>
</cp:coreProperties>
</file>